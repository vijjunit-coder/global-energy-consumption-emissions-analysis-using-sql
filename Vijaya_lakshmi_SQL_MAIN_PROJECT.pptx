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95" r:id="rId6"/>
    <p:sldId id="260" r:id="rId7"/>
    <p:sldId id="296" r:id="rId8"/>
    <p:sldId id="261" r:id="rId9"/>
    <p:sldId id="262" r:id="rId10"/>
    <p:sldId id="264" r:id="rId11"/>
    <p:sldId id="279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0" r:id="rId22"/>
    <p:sldId id="277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1" r:id="rId33"/>
    <p:sldId id="292" r:id="rId34"/>
    <p:sldId id="293" r:id="rId35"/>
    <p:sldId id="294" r:id="rId36"/>
    <p:sldId id="275" r:id="rId37"/>
    <p:sldId id="276" r:id="rId38"/>
  </p:sldIdLst>
  <p:sldSz cx="12192000" cy="6858000"/>
  <p:notesSz cx="6858000" cy="9144000"/>
  <p:embeddedFontLst>
    <p:embeddedFont>
      <p:font typeface="Cambria Math" panose="02040503050406030204" pitchFamily="18" charset="0"/>
      <p:regular r:id="rId40"/>
    </p:embeddedFont>
    <p:embeddedFont>
      <p:font typeface="Lato Black" panose="020F0502020204030203" pitchFamily="34" charset="0"/>
      <p:bold r:id="rId41"/>
      <p:boldItalic r:id="rId42"/>
    </p:embeddedFont>
    <p:embeddedFont>
      <p:font typeface="Libre Baskerville" panose="02000000000000000000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h8nK3GUfSKk5xLeKlBWr/M7BMA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 autoAdjust="0"/>
    <p:restoredTop sz="94695" autoAdjust="0"/>
  </p:normalViewPr>
  <p:slideViewPr>
    <p:cSldViewPr snapToGrid="0">
      <p:cViewPr varScale="1">
        <p:scale>
          <a:sx n="92" d="100"/>
          <a:sy n="92" d="100"/>
        </p:scale>
        <p:origin x="336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6dbd3d461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6dbd3d461_1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e6dbd3d461_1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6dbd3d461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6dbd3d461_1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e6dbd3d461_1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6dbd3d46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6dbd3d461_1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e6dbd3d461_1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6dbd3d461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6dbd3d461_1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6dbd3d461_1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6dbd3d461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6dbd3d461_1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e6dbd3d461_1_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6dbd3d461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6dbd3d461_1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e6dbd3d461_1_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6dbd3d461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6dbd3d461_1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e6dbd3d461_1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6dbd3d461_1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6dbd3d461_1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3e6dbd3d461_1_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6dbd3d461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6dbd3d461_1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e6dbd3d461_1_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6dbd3d461_1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6dbd3d461_1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e6dbd3d461_1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6dbd3d461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6dbd3d461_1_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e6dbd3d461_1_1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6dbd3d461_1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6dbd3d461_1_1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e6dbd3d461_1_1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6dbd3d461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6dbd3d461_1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g3e6dbd3d461_1_1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6dbd3d461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6dbd3d461_1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e6dbd3d461_1_1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6dbd3d461_1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6dbd3d461_1_1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e6dbd3d461_1_1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36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56" name="Google Shape;2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linkedin.com/in/nakka-vijaya-lakshmi-3a3bb531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899" y="4083746"/>
            <a:ext cx="7246200" cy="877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2400" b="1" dirty="0"/>
              <a:t>Energy Consumption Analysis</a:t>
            </a: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hlinkClick r:id="rId3" action="ppaction://hlinkfile"/>
          </p:cNvPr>
          <p:cNvSpPr txBox="1"/>
          <p:nvPr/>
        </p:nvSpPr>
        <p:spPr>
          <a:xfrm>
            <a:off x="687935" y="1307484"/>
            <a:ext cx="70074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Nakka Vijaya Lakshmi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Master’s of Computer Applications (MCA)</a:t>
            </a:r>
          </a:p>
          <a:p>
            <a:pPr marL="457200" lvl="0"/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 action="ppaction://hlinkfile"/>
              </a:rPr>
              <a:t>LinkedIn</a:t>
            </a: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  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/>
              <a:t>Objective of the Project</a:t>
            </a: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lang="en-IN" sz="2400" dirty="0"/>
          </a:p>
          <a:p>
            <a:pPr lvl="0" indent="-431800">
              <a:buSzPts val="2400"/>
            </a:pPr>
            <a:r>
              <a:rPr lang="en-IN" sz="2400" dirty="0"/>
              <a:t>Database Context &amp; Setup</a:t>
            </a:r>
            <a:endParaRPr sz="2400" dirty="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/>
              <a:t>Key analysis questions (use cases)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lang="en-IN" sz="2400" dirty="0"/>
          </a:p>
          <a:p>
            <a:pPr indent="-431800">
              <a:buSzPts val="2400"/>
            </a:pPr>
            <a:r>
              <a:rPr lang="en-IN" sz="2400" dirty="0">
                <a:solidFill>
                  <a:schemeClr val="tx1"/>
                </a:solidFill>
              </a:rPr>
              <a:t>Key Research Domains</a:t>
            </a: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/>
              <a:t>Conclusion (Key finding overall) </a:t>
            </a:r>
            <a:endParaRPr sz="2400" dirty="0">
              <a:solidFill>
                <a:schemeClr val="tx1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/>
              <a:t>Your Experience/Challenges working</a:t>
            </a:r>
            <a:r>
              <a:rPr lang="en-IN" sz="2400" b="1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6dbd3d461_1_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>
                <a:solidFill>
                  <a:srgbClr val="FF0000"/>
                </a:solidFill>
              </a:rPr>
              <a:t>Objective of the Project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118" name="Google Shape;118;g3e6dbd3d461_1_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indent="-457200"/>
            <a:r>
              <a:rPr lang="en-US" sz="2000" dirty="0"/>
              <a:t>To compare key energy metrics across countries</a:t>
            </a:r>
          </a:p>
          <a:p>
            <a:pPr marL="914400" indent="-457200"/>
            <a:r>
              <a:rPr lang="en-IN" sz="2000" dirty="0"/>
              <a:t>To evaluate historical trends</a:t>
            </a:r>
          </a:p>
          <a:p>
            <a:pPr marL="914400" indent="-457200"/>
            <a:r>
              <a:rPr lang="en-US" sz="2000" dirty="0"/>
              <a:t>To establish per capita consumption and emission rates</a:t>
            </a:r>
            <a:endParaRPr lang="en-IN" sz="2000" dirty="0"/>
          </a:p>
          <a:p>
            <a:pPr marL="914400" indent="-457200"/>
            <a:r>
              <a:rPr lang="en-IN" sz="2000" dirty="0"/>
              <a:t>To identify environmental improvement/challenge</a:t>
            </a:r>
          </a:p>
          <a:p>
            <a:pPr marL="800100"/>
            <a:r>
              <a:rPr lang="en-IN" sz="2000" dirty="0"/>
              <a:t> </a:t>
            </a:r>
            <a:r>
              <a:rPr lang="en-US" sz="2000" dirty="0"/>
              <a:t>To analyze the correlation :  between a country's economic power    (GDP), energy consumption, and environmental impact (emissions)</a:t>
            </a:r>
          </a:p>
          <a:p>
            <a:pPr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E1432-CC78-1E1A-70E1-D2760DB11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67" y="747511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Database Context &amp; Setup</a:t>
            </a:r>
            <a:r>
              <a:rPr lang="en-IN" sz="24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80587-85A9-9DD1-838D-6F801486E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400" dirty="0"/>
              <a:t>The project involves a structured dataset consisting of six interconnected tables</a:t>
            </a:r>
          </a:p>
          <a:p>
            <a:pPr marL="114300" indent="0">
              <a:buNone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Country:</a:t>
            </a:r>
            <a:r>
              <a:rPr lang="en-US" sz="2400" dirty="0"/>
              <a:t> The central reference table linking all other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Emission_3:</a:t>
            </a:r>
            <a:r>
              <a:rPr lang="en-US" sz="2400" dirty="0"/>
              <a:t> Tracks CO2 output and per-capita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GDP_3:</a:t>
            </a:r>
            <a:r>
              <a:rPr lang="en-US" sz="2400" dirty="0"/>
              <a:t> Records the economic power (Gross Domestic Product) of nations.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Population:</a:t>
            </a:r>
            <a:r>
              <a:rPr lang="en-US" sz="2400" dirty="0"/>
              <a:t> Tracks the number of people in each country.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Consumption:</a:t>
            </a:r>
            <a:r>
              <a:rPr lang="en-US" sz="2400" dirty="0"/>
              <a:t> Details how much energy is 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Production:</a:t>
            </a:r>
            <a:r>
              <a:rPr lang="en-US" sz="2400" dirty="0"/>
              <a:t> Details how much energy is generated.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87849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6dbd3d461_1_26"/>
          <p:cNvSpPr txBox="1">
            <a:spLocks noGrp="1"/>
          </p:cNvSpPr>
          <p:nvPr>
            <p:ph type="title"/>
          </p:nvPr>
        </p:nvSpPr>
        <p:spPr>
          <a:xfrm>
            <a:off x="597150" y="149475"/>
            <a:ext cx="10515600" cy="855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6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Schema Diagram </a:t>
            </a:r>
            <a:endParaRPr sz="520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63E722-6CF1-E392-15F6-D90778B52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75" y="1101625"/>
            <a:ext cx="9408600" cy="50174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7247-6B72-2957-05CD-12F0C88E0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Explanation about ER DIAGRAM: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898FC-F21B-AA08-A39E-71826A145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sz="2400" b="1" dirty="0"/>
              <a:t>1. Primary Key (The Unique Identifier)</a:t>
            </a:r>
          </a:p>
          <a:p>
            <a:pPr marL="114300" indent="0">
              <a:buNone/>
            </a:pPr>
            <a:r>
              <a:rPr lang="en-US" sz="2000" dirty="0"/>
              <a:t>A </a:t>
            </a:r>
            <a:r>
              <a:rPr lang="en-US" sz="2000" b="1" dirty="0"/>
              <a:t>Primary Key</a:t>
            </a:r>
            <a:r>
              <a:rPr lang="en-US" sz="2000" dirty="0"/>
              <a:t> is a specific column in a table that uniquely identifies each row. No two rows can have the same Primary Key value, and it cannot be empty (NULL) .</a:t>
            </a:r>
          </a:p>
          <a:p>
            <a:pPr marL="114300" indent="0">
              <a:buNone/>
            </a:pPr>
            <a:r>
              <a:rPr lang="en-US" sz="2000" b="1" dirty="0"/>
              <a:t>In  country table:</a:t>
            </a:r>
            <a:r>
              <a:rPr lang="en-US" sz="2000" dirty="0"/>
              <a:t> The Primary Key is </a:t>
            </a:r>
            <a:r>
              <a:rPr lang="en-US" sz="2000" b="1" dirty="0"/>
              <a:t>CID</a:t>
            </a:r>
            <a:r>
              <a:rPr lang="en-US" sz="2000" dirty="0"/>
              <a:t>. This unique ID (like "USA" or "IND") ensures that every country is represented as a single, distinct entity . </a:t>
            </a:r>
          </a:p>
          <a:p>
            <a:pPr marL="114300" indent="0">
              <a:buNone/>
            </a:pPr>
            <a:r>
              <a:rPr lang="en-US" sz="2000" b="1" dirty="0"/>
              <a:t>Purpose:</a:t>
            </a:r>
            <a:r>
              <a:rPr lang="en-US" sz="2000" dirty="0"/>
              <a:t> It prevents duplicate entries for the same country in your central hub 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400" b="1" dirty="0"/>
              <a:t>2. Foreign Key (The Connector)</a:t>
            </a:r>
          </a:p>
          <a:p>
            <a:pPr marL="114300" indent="0">
              <a:buNone/>
            </a:pPr>
            <a:r>
              <a:rPr lang="en-US" sz="2000" dirty="0"/>
              <a:t>A </a:t>
            </a:r>
            <a:r>
              <a:rPr lang="en-US" sz="2000" b="1" dirty="0"/>
              <a:t>Foreign Key</a:t>
            </a:r>
            <a:r>
              <a:rPr lang="en-US" sz="2000" dirty="0"/>
              <a:t> is a column in one table that links to the Primary Key of another table. It is used to "point" back to the original source of information. </a:t>
            </a:r>
          </a:p>
          <a:p>
            <a:pPr marL="114300" indent="0">
              <a:buNone/>
            </a:pPr>
            <a:r>
              <a:rPr lang="en-US" sz="2000" b="1" dirty="0"/>
              <a:t>In your data tables:</a:t>
            </a:r>
            <a:r>
              <a:rPr lang="en-US" sz="2000" dirty="0"/>
              <a:t> Tables like emission_3, population, production, gdp_3, and consumption all use </a:t>
            </a:r>
            <a:r>
              <a:rPr lang="en-US" sz="2000" b="1" dirty="0"/>
              <a:t>country</a:t>
            </a:r>
            <a:r>
              <a:rPr lang="en-US" sz="2000" dirty="0"/>
              <a:t> (or countries) as a Foreign Key. </a:t>
            </a:r>
          </a:p>
          <a:p>
            <a:pPr marL="114300" indent="0">
              <a:buNone/>
            </a:pPr>
            <a:r>
              <a:rPr lang="en-US" sz="2000" b="1" dirty="0"/>
              <a:t>The Link:</a:t>
            </a:r>
            <a:r>
              <a:rPr lang="en-US" sz="2000" dirty="0"/>
              <a:t> This Foreign Key connects the rows in your data tables back to the </a:t>
            </a:r>
            <a:r>
              <a:rPr lang="en-US" b="1" dirty="0"/>
              <a:t>Country</a:t>
            </a:r>
            <a:r>
              <a:rPr lang="en-US" sz="2000" dirty="0"/>
              <a:t> column in your main </a:t>
            </a:r>
            <a:r>
              <a:rPr lang="en-US" dirty="0"/>
              <a:t>country</a:t>
            </a:r>
            <a:r>
              <a:rPr lang="en-US" sz="2000" dirty="0"/>
              <a:t> table.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660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6dbd3d461_1_34"/>
          <p:cNvSpPr txBox="1">
            <a:spLocks noGrp="1"/>
          </p:cNvSpPr>
          <p:nvPr>
            <p:ph type="title"/>
          </p:nvPr>
        </p:nvSpPr>
        <p:spPr>
          <a:xfrm>
            <a:off x="729725" y="257950"/>
            <a:ext cx="10515600" cy="759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115000"/>
              </a:lnSpc>
              <a:buSzPts val="1100"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               </a:t>
            </a:r>
            <a:r>
              <a:rPr lang="en-US" sz="2200" dirty="0"/>
              <a:t>Which energy types contribute most to emissions across all countries?</a:t>
            </a:r>
            <a:endParaRPr sz="2200" dirty="0"/>
          </a:p>
        </p:txBody>
      </p:sp>
      <p:sp>
        <p:nvSpPr>
          <p:cNvPr id="133" name="Google Shape;133;g3e6dbd3d461_1_34"/>
          <p:cNvSpPr txBox="1">
            <a:spLocks noGrp="1"/>
          </p:cNvSpPr>
          <p:nvPr>
            <p:ph type="body" idx="1"/>
          </p:nvPr>
        </p:nvSpPr>
        <p:spPr>
          <a:xfrm>
            <a:off x="568925" y="1137775"/>
            <a:ext cx="10676400" cy="50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500" dirty="0"/>
              <a:t>Query:                                                                                 Output: </a:t>
            </a: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500" dirty="0"/>
              <a:t> </a:t>
            </a: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500" dirty="0"/>
              <a:t>Key Insight :</a:t>
            </a:r>
            <a:endParaRPr sz="2500" dirty="0"/>
          </a:p>
          <a:p>
            <a:pPr marL="0" indent="0" algn="just">
              <a:buNone/>
            </a:pPr>
            <a:r>
              <a:rPr lang="en-US" sz="2000" b="1" dirty="0"/>
              <a:t>Dominance of Fossil Fuels:</a:t>
            </a:r>
            <a:r>
              <a:rPr lang="en-US" sz="2000" dirty="0"/>
              <a:t> Traditional energy sources like Coal and Oil still contribute the largest       share of global emissions.</a:t>
            </a:r>
          </a:p>
          <a:p>
            <a:pPr marL="342900"/>
            <a:endParaRPr sz="2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A9F2D0-12D0-716A-6F5D-8C65847D1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26" y="1936867"/>
            <a:ext cx="4111139" cy="2410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BCF55A-00DA-162E-DE8C-86C2A46D4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865" y="1936868"/>
            <a:ext cx="4256117" cy="16292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6dbd3d461_1_47"/>
          <p:cNvSpPr txBox="1">
            <a:spLocks noGrp="1"/>
          </p:cNvSpPr>
          <p:nvPr>
            <p:ph type="title"/>
          </p:nvPr>
        </p:nvSpPr>
        <p:spPr>
          <a:xfrm>
            <a:off x="705625" y="184350"/>
            <a:ext cx="10515600" cy="881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115000"/>
              </a:lnSpc>
              <a:buSzPts val="1100"/>
            </a:pPr>
            <a:r>
              <a:rPr lang="en-IN" sz="24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What are the top 5 countries by GDP in the most recent year?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2" name="Google Shape;142;g3e6dbd3d461_1_47"/>
          <p:cNvSpPr txBox="1">
            <a:spLocks noGrp="1"/>
          </p:cNvSpPr>
          <p:nvPr>
            <p:ph type="body" idx="1"/>
          </p:nvPr>
        </p:nvSpPr>
        <p:spPr>
          <a:xfrm>
            <a:off x="641200" y="1065450"/>
            <a:ext cx="10763100" cy="524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500" dirty="0"/>
              <a:t>Query:                                                                                    Output:  </a:t>
            </a: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>
              <a:buNone/>
            </a:pPr>
            <a:endParaRPr lang="en-IN" sz="2500" dirty="0"/>
          </a:p>
          <a:p>
            <a:pPr marL="0" lvl="0" indent="0">
              <a:buNone/>
            </a:pPr>
            <a:r>
              <a:rPr lang="en-IN" sz="2500" dirty="0"/>
              <a:t>Key Insight :</a:t>
            </a:r>
          </a:p>
          <a:p>
            <a:pPr marL="0" lvl="0" indent="0">
              <a:buNone/>
            </a:pPr>
            <a:r>
              <a:rPr lang="en-IN" sz="2000" dirty="0"/>
              <a:t>In the most recent year , China has the hight GDP , followed by United States.</a:t>
            </a:r>
          </a:p>
          <a:p>
            <a:pPr marL="0" lvl="0" indent="0">
              <a:buNone/>
            </a:pPr>
            <a:r>
              <a:rPr lang="en-IN" sz="2000" dirty="0"/>
              <a:t>India , Japan , and Germany complete the top 5.There is a significant gap between the top two economies and the rest.</a:t>
            </a:r>
          </a:p>
          <a:p>
            <a:pPr marL="0" lvl="0" indent="0"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C8E3B6-4A07-CB04-9E0D-2835DB4FA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01" y="1712423"/>
            <a:ext cx="4529315" cy="16209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22E705-8951-3A74-38BC-60136F838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854" y="2030271"/>
            <a:ext cx="2121899" cy="17769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6dbd3d461_1_66"/>
          <p:cNvSpPr txBox="1">
            <a:spLocks noGrp="1"/>
          </p:cNvSpPr>
          <p:nvPr>
            <p:ph type="title"/>
          </p:nvPr>
        </p:nvSpPr>
        <p:spPr>
          <a:xfrm>
            <a:off x="1544781" y="705400"/>
            <a:ext cx="10515600" cy="1236326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1" dirty="0"/>
              <a:t>Compare energy production and consumption by country and year. </a:t>
            </a:r>
            <a:br>
              <a:rPr lang="en-US" sz="2800" dirty="0"/>
            </a:br>
            <a:br>
              <a:rPr lang="en-US" sz="2800" dirty="0"/>
            </a:br>
            <a:endParaRPr sz="2800" dirty="0"/>
          </a:p>
        </p:txBody>
      </p:sp>
      <p:sp>
        <p:nvSpPr>
          <p:cNvPr id="160" name="Google Shape;160;g3e6dbd3d461_1_66"/>
          <p:cNvSpPr txBox="1">
            <a:spLocks noGrp="1"/>
          </p:cNvSpPr>
          <p:nvPr>
            <p:ph type="body" idx="1"/>
          </p:nvPr>
        </p:nvSpPr>
        <p:spPr>
          <a:xfrm>
            <a:off x="789975" y="1559600"/>
            <a:ext cx="10515600" cy="4593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500" dirty="0"/>
              <a:t>Query:                                                                               Output:  </a:t>
            </a: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1B7DC7-4802-3FD2-7A8C-DA88660C4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19" y="2269375"/>
            <a:ext cx="5278582" cy="4048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813E60-8FE6-237A-457E-734C8B7D6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510" y="2434504"/>
            <a:ext cx="3566469" cy="19889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3F41A-E04E-E863-2457-6965AEAB2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524" y="622819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b="1" dirty="0"/>
              <a:t>Key insight: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49E348-1787-B60C-39A6-170425AEF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Comparing energy production and consumption helps identify whether a country is an </a:t>
            </a:r>
            <a:r>
              <a:rPr lang="en-US" sz="2400" b="1" dirty="0"/>
              <a:t>energy surplus (producer)</a:t>
            </a:r>
            <a:r>
              <a:rPr lang="en-US" sz="2400" dirty="0"/>
              <a:t> or </a:t>
            </a:r>
            <a:r>
              <a:rPr lang="en-US" sz="2400" b="1" dirty="0"/>
              <a:t>energy deficit (consumer)</a:t>
            </a:r>
            <a:r>
              <a:rPr lang="en-US" sz="2400" dirty="0"/>
              <a:t> nation.</a:t>
            </a:r>
          </a:p>
          <a:p>
            <a:r>
              <a:rPr lang="en-US" sz="2400" dirty="0"/>
              <a:t>Some countries show </a:t>
            </a:r>
            <a:r>
              <a:rPr lang="en-US" sz="2400" b="1" dirty="0"/>
              <a:t>equal or near-equal production and consumption</a:t>
            </a:r>
            <a:r>
              <a:rPr lang="en-US" sz="2400" dirty="0"/>
              <a:t>, indicating balanced energy usage.</a:t>
            </a:r>
          </a:p>
          <a:p>
            <a:r>
              <a:rPr lang="en-US" sz="2400" dirty="0"/>
              <a:t>In certain cases, </a:t>
            </a:r>
            <a:r>
              <a:rPr lang="en-US" sz="2400" b="1" dirty="0"/>
              <a:t>energy production is higher than consumption</a:t>
            </a:r>
            <a:r>
              <a:rPr lang="en-US" sz="2400" dirty="0"/>
              <a:t>, suggesting the possibility of energy exports or excess supply.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32530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6dbd3d461_1_76"/>
          <p:cNvSpPr txBox="1">
            <a:spLocks noGrp="1"/>
          </p:cNvSpPr>
          <p:nvPr>
            <p:ph type="title"/>
          </p:nvPr>
        </p:nvSpPr>
        <p:spPr>
          <a:xfrm>
            <a:off x="1012767" y="213525"/>
            <a:ext cx="10515600" cy="820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2200" b="1" dirty="0"/>
              <a:t>Which energy types contribute most to emissions across all countries?</a:t>
            </a:r>
            <a:endParaRPr sz="2200" dirty="0"/>
          </a:p>
        </p:txBody>
      </p:sp>
      <p:sp>
        <p:nvSpPr>
          <p:cNvPr id="169" name="Google Shape;169;g3e6dbd3d461_1_76"/>
          <p:cNvSpPr txBox="1">
            <a:spLocks noGrp="1"/>
          </p:cNvSpPr>
          <p:nvPr>
            <p:ph type="body" idx="1"/>
          </p:nvPr>
        </p:nvSpPr>
        <p:spPr>
          <a:xfrm>
            <a:off x="677375" y="1185925"/>
            <a:ext cx="10676400" cy="499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500" dirty="0"/>
              <a:t>Query:                                                                                   Output:    </a:t>
            </a: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500" dirty="0"/>
              <a:t>Key Insight :</a:t>
            </a:r>
          </a:p>
          <a:p>
            <a:pPr marL="342900"/>
            <a:r>
              <a:rPr lang="en-US" sz="2200" dirty="0"/>
              <a:t>CO2 emissions are the largest contributor to emission globally , accounting for 142,723</a:t>
            </a:r>
          </a:p>
          <a:p>
            <a:pPr marL="342900"/>
            <a:r>
              <a:rPr lang="en-US" sz="2200" dirty="0"/>
              <a:t>Coal and coke are the second largest contributor with 63,965 </a:t>
            </a:r>
            <a:r>
              <a:rPr lang="en-US" sz="2200" dirty="0" err="1"/>
              <a:t>Millionnes</a:t>
            </a:r>
            <a:r>
              <a:rPr lang="en-US" sz="2200" dirty="0"/>
              <a:t> CO2</a:t>
            </a:r>
          </a:p>
          <a:p>
            <a:pPr marL="342900"/>
            <a:r>
              <a:rPr lang="en-US" sz="2200" dirty="0"/>
              <a:t>Petroleum and other liquid rank third , contributing 47,297 </a:t>
            </a:r>
            <a:r>
              <a:rPr lang="en-US" sz="2200" dirty="0" err="1"/>
              <a:t>Millionnes</a:t>
            </a:r>
            <a:r>
              <a:rPr lang="en-US" sz="2200" dirty="0"/>
              <a:t> CO2</a:t>
            </a:r>
          </a:p>
          <a:p>
            <a:pPr marL="342900"/>
            <a:r>
              <a:rPr lang="en-US" sz="2200" dirty="0"/>
              <a:t>Consumed natural gas contributes the least </a:t>
            </a:r>
            <a:r>
              <a:rPr lang="en-US" sz="2200" dirty="0" err="1"/>
              <a:t>amonge</a:t>
            </a:r>
            <a:r>
              <a:rPr lang="en-US" sz="2200" dirty="0"/>
              <a:t> the top energy types , with 31,469 </a:t>
            </a:r>
            <a:r>
              <a:rPr lang="en-US" sz="2200" dirty="0" err="1"/>
              <a:t>Millionnes</a:t>
            </a:r>
            <a:r>
              <a:rPr lang="en-US" sz="2200" dirty="0"/>
              <a:t> CO2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E30073-0FB3-8A0D-14A2-1167A45ED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75" y="1767052"/>
            <a:ext cx="3002540" cy="19071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577ABF-6099-2E72-D1F6-0A6AC4671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567" y="1981487"/>
            <a:ext cx="3421677" cy="13488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6dbd3d461_1_86"/>
          <p:cNvSpPr txBox="1">
            <a:spLocks noGrp="1"/>
          </p:cNvSpPr>
          <p:nvPr>
            <p:ph type="title"/>
          </p:nvPr>
        </p:nvSpPr>
        <p:spPr>
          <a:xfrm>
            <a:off x="2371620" y="384007"/>
            <a:ext cx="10515600" cy="1022697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r>
              <a:rPr lang="en-US" sz="2200" b="1" dirty="0"/>
              <a:t>How have global emissions changed year over year?</a:t>
            </a:r>
            <a:br>
              <a:rPr lang="en-US" sz="2400" dirty="0"/>
            </a:br>
            <a:br>
              <a:rPr lang="en-US" sz="2400" dirty="0"/>
            </a:b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78" name="Google Shape;178;g3e6dbd3d461_1_86"/>
          <p:cNvSpPr txBox="1">
            <a:spLocks noGrp="1"/>
          </p:cNvSpPr>
          <p:nvPr>
            <p:ph type="body" idx="1"/>
          </p:nvPr>
        </p:nvSpPr>
        <p:spPr>
          <a:xfrm>
            <a:off x="725700" y="1113625"/>
            <a:ext cx="10628100" cy="519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500" dirty="0"/>
              <a:t>Query:                                                                          Output:   </a:t>
            </a: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500" dirty="0"/>
              <a:t>Key Insight :</a:t>
            </a:r>
          </a:p>
          <a:p>
            <a:pPr marL="342900"/>
            <a:r>
              <a:rPr lang="en-US" sz="1800" dirty="0"/>
              <a:t>Global emissions increased consistently from </a:t>
            </a:r>
            <a:r>
              <a:rPr lang="en-US" sz="1800" b="1" dirty="0"/>
              <a:t>2020 to 2023</a:t>
            </a:r>
            <a:r>
              <a:rPr lang="en-US" sz="1800" dirty="0"/>
              <a:t>, showing a year-over-year upward trend.</a:t>
            </a:r>
          </a:p>
          <a:p>
            <a:pPr marL="342900"/>
            <a:r>
              <a:rPr lang="en-US" sz="1800" dirty="0"/>
              <a:t>The </a:t>
            </a:r>
            <a:r>
              <a:rPr lang="en-US" sz="1800" b="1" dirty="0"/>
              <a:t>largest annual increase</a:t>
            </a:r>
            <a:r>
              <a:rPr lang="en-US" sz="1800" dirty="0"/>
              <a:t> occurred between </a:t>
            </a:r>
            <a:r>
              <a:rPr lang="en-US" sz="1800" b="1" dirty="0"/>
              <a:t>2020 and 2021</a:t>
            </a:r>
            <a:r>
              <a:rPr lang="en-US" sz="1800" dirty="0"/>
              <a:t>, where emissions increased by </a:t>
            </a:r>
            <a:r>
              <a:rPr lang="en-US" sz="1800" b="1" dirty="0"/>
              <a:t>3,124</a:t>
            </a:r>
            <a:r>
              <a:rPr lang="en-US" sz="1800" dirty="0"/>
              <a:t>.</a:t>
            </a:r>
            <a:endParaRPr lang="en-IN" sz="1800" dirty="0"/>
          </a:p>
          <a:p>
            <a:pPr marL="584200" indent="-457200">
              <a:buSzPts val="1600"/>
            </a:pPr>
            <a:endParaRPr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E48545-DFE7-40FE-EFA1-E47C7F464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68" y="2010547"/>
            <a:ext cx="3505504" cy="2171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AAEFEC-B221-AEBE-674E-5CD8FE775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993" y="1905646"/>
            <a:ext cx="2232853" cy="10516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6dbd3d461_1_95"/>
          <p:cNvSpPr txBox="1">
            <a:spLocks noGrp="1"/>
          </p:cNvSpPr>
          <p:nvPr>
            <p:ph type="title"/>
          </p:nvPr>
        </p:nvSpPr>
        <p:spPr>
          <a:xfrm>
            <a:off x="1470092" y="273275"/>
            <a:ext cx="10515600" cy="965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15000"/>
              </a:lnSpc>
              <a:buSzPts val="1100"/>
            </a:pPr>
            <a:r>
              <a:rPr lang="en-US" sz="2000" b="1" dirty="0"/>
              <a:t>What is the trend in GDP for each country over the given years?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</p:txBody>
      </p:sp>
      <p:sp>
        <p:nvSpPr>
          <p:cNvPr id="187" name="Google Shape;187;g3e6dbd3d461_1_95"/>
          <p:cNvSpPr txBox="1">
            <a:spLocks noGrp="1"/>
          </p:cNvSpPr>
          <p:nvPr>
            <p:ph type="body" idx="1"/>
          </p:nvPr>
        </p:nvSpPr>
        <p:spPr>
          <a:xfrm>
            <a:off x="729725" y="1390875"/>
            <a:ext cx="10624200" cy="478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500" dirty="0"/>
              <a:t>Query:                                                                        Output:  </a:t>
            </a: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500" dirty="0"/>
              <a:t>Key Insight :</a:t>
            </a:r>
          </a:p>
          <a:p>
            <a:pPr marL="342900"/>
            <a:r>
              <a:rPr lang="en-US" sz="2100" dirty="0"/>
              <a:t>Most countries show a </a:t>
            </a:r>
            <a:r>
              <a:rPr lang="en-US" sz="2100" b="1" dirty="0"/>
              <a:t>gradual increase in GDP over the years</a:t>
            </a:r>
            <a:r>
              <a:rPr lang="en-US" sz="2100" dirty="0"/>
              <a:t>, indicating overall economic growth.</a:t>
            </a:r>
          </a:p>
          <a:p>
            <a:pPr marL="342900"/>
            <a:r>
              <a:rPr lang="en-US" sz="2100" dirty="0"/>
              <a:t>Some countries experience </a:t>
            </a:r>
            <a:r>
              <a:rPr lang="en-US" sz="2100" b="1" dirty="0"/>
              <a:t>temporary declines or fluctuations</a:t>
            </a:r>
            <a:r>
              <a:rPr lang="en-US" sz="2100" dirty="0"/>
              <a:t>, reflecting economic instability, policy changes, or external factors.</a:t>
            </a:r>
          </a:p>
          <a:p>
            <a:pPr marL="342900"/>
            <a:r>
              <a:rPr lang="en-US" sz="2100" dirty="0"/>
              <a:t>Countries with stronger economies tend to show </a:t>
            </a:r>
            <a:r>
              <a:rPr lang="en-US" sz="2100" b="1" dirty="0"/>
              <a:t>more consistent GDP growth trends</a:t>
            </a:r>
            <a:r>
              <a:rPr lang="en-US" sz="2100" dirty="0"/>
              <a:t> compared to smaller or developing economies.</a:t>
            </a:r>
          </a:p>
          <a:p>
            <a:pPr marL="0" lvl="0" indent="0">
              <a:buNone/>
            </a:pPr>
            <a:endParaRPr sz="2500" dirty="0"/>
          </a:p>
          <a:p>
            <a:pPr marL="127000" lvl="0" indent="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791022-C11D-06FC-87CF-1FDB9BB1C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84" y="1894420"/>
            <a:ext cx="1821338" cy="2112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BB4B6-7903-9452-8412-188A29F35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209" y="2102678"/>
            <a:ext cx="2133785" cy="21871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6dbd3d461_1_10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12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44" dirty="0">
              <a:latin typeface="Arial"/>
              <a:ea typeface="Arial"/>
              <a:cs typeface="Arial"/>
              <a:sym typeface="Arial"/>
            </a:endParaRPr>
          </a:p>
          <a:p>
            <a:r>
              <a:rPr lang="en-US" sz="3100" b="1" dirty="0"/>
              <a:t>How has population growth affected total emissions in each country?</a:t>
            </a:r>
            <a:br>
              <a:rPr lang="en-US" sz="2400" dirty="0"/>
            </a:br>
            <a:br>
              <a:rPr lang="en-US" sz="2400" dirty="0"/>
            </a:br>
            <a:endParaRPr sz="2344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96" name="Google Shape;196;g3e6dbd3d461_1_104"/>
          <p:cNvSpPr txBox="1">
            <a:spLocks noGrp="1"/>
          </p:cNvSpPr>
          <p:nvPr>
            <p:ph type="body" idx="1"/>
          </p:nvPr>
        </p:nvSpPr>
        <p:spPr>
          <a:xfrm>
            <a:off x="580950" y="1610250"/>
            <a:ext cx="10773000" cy="4566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500" b="1" dirty="0"/>
              <a:t>Query:                                                                                                                                     Output:  </a:t>
            </a:r>
            <a:endParaRPr sz="2500"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IN" sz="1500" dirty="0"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IN"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IN"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IN"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IN"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IN"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IN"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IN"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500" b="1" dirty="0"/>
              <a:t>Key Insight:</a:t>
            </a:r>
          </a:p>
          <a:p>
            <a:pPr marL="0" lvl="0" indent="0">
              <a:buNone/>
            </a:pPr>
            <a:r>
              <a:rPr lang="en-US" sz="2400" dirty="0"/>
              <a:t>In many countries, </a:t>
            </a:r>
            <a:r>
              <a:rPr lang="en-US" sz="2400" b="1" dirty="0"/>
              <a:t>population growth is accompanied by an increase in total emissions</a:t>
            </a:r>
            <a:r>
              <a:rPr lang="en-US" sz="2400" dirty="0"/>
              <a:t>, suggesting higher energy demand and industrial activity.</a:t>
            </a:r>
          </a:p>
          <a:p>
            <a:pPr marL="0" lvl="0" indent="0">
              <a:buNone/>
            </a:pPr>
            <a:r>
              <a:rPr lang="en-US" sz="2400" dirty="0"/>
              <a:t>Countries with rapidly growing populations often show a </a:t>
            </a:r>
            <a:r>
              <a:rPr lang="en-US" sz="2400" b="1" dirty="0"/>
              <a:t>steady rise in emissions over the years</a:t>
            </a:r>
            <a:r>
              <a:rPr lang="en-US" sz="2400" dirty="0"/>
              <a:t>.</a:t>
            </a:r>
          </a:p>
          <a:p>
            <a:pPr marL="0" lvl="0" indent="0">
              <a:buNone/>
            </a:pPr>
            <a:r>
              <a:rPr lang="en-US" sz="2400" dirty="0"/>
              <a:t>The relationship between population and emissions is </a:t>
            </a:r>
            <a:r>
              <a:rPr lang="en-US" sz="2400" b="1" dirty="0"/>
              <a:t>not always proportional</a:t>
            </a:r>
            <a:r>
              <a:rPr lang="en-US" sz="2400" dirty="0"/>
              <a:t>—some countries manage population growth with smaller emission increases due to cleaner energy or efficient policies.</a:t>
            </a:r>
          </a:p>
          <a:p>
            <a:pPr marL="0" lvl="0" indent="0">
              <a:buNone/>
            </a:pPr>
            <a:endParaRPr lang="en-IN"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909341-0BFE-F913-E59F-B529923B7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51" y="2053244"/>
            <a:ext cx="4539677" cy="2751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DBAF7E-48B5-787E-FEB9-DA1299FD6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143" y="2331625"/>
            <a:ext cx="2743438" cy="2194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6dbd3d461_1_113"/>
          <p:cNvSpPr txBox="1">
            <a:spLocks noGrp="1"/>
          </p:cNvSpPr>
          <p:nvPr>
            <p:ph type="title"/>
          </p:nvPr>
        </p:nvSpPr>
        <p:spPr>
          <a:xfrm>
            <a:off x="686466" y="188090"/>
            <a:ext cx="10515600" cy="1012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115000"/>
              </a:lnSpc>
              <a:buSzPts val="1100"/>
            </a:pPr>
            <a:r>
              <a:rPr lang="en-US" sz="2000" dirty="0"/>
              <a:t>Has energy consumption increased or decreased over the years for major economies?</a:t>
            </a:r>
            <a:endParaRPr sz="2000" dirty="0"/>
          </a:p>
        </p:txBody>
      </p:sp>
      <p:sp>
        <p:nvSpPr>
          <p:cNvPr id="205" name="Google Shape;205;g3e6dbd3d461_1_113"/>
          <p:cNvSpPr txBox="1">
            <a:spLocks noGrp="1"/>
          </p:cNvSpPr>
          <p:nvPr>
            <p:ph type="body" idx="1"/>
          </p:nvPr>
        </p:nvSpPr>
        <p:spPr>
          <a:xfrm>
            <a:off x="505690" y="1200590"/>
            <a:ext cx="10515600" cy="525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214" b="1" dirty="0"/>
              <a:t>Query:</a:t>
            </a:r>
            <a:r>
              <a:rPr lang="en-IN" sz="3214" dirty="0"/>
              <a:t>    </a:t>
            </a:r>
            <a:r>
              <a:rPr lang="en-IN" sz="2500" dirty="0"/>
              <a:t>                                                                                               </a:t>
            </a:r>
            <a:r>
              <a:rPr lang="en-IN" sz="3214" b="1" dirty="0"/>
              <a:t>Output:</a:t>
            </a:r>
            <a:endParaRPr sz="3214"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IN" sz="3214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IN" sz="3214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214" b="1" dirty="0"/>
              <a:t>Key Insight :</a:t>
            </a:r>
          </a:p>
          <a:p>
            <a:pPr indent="-457200"/>
            <a:r>
              <a:rPr lang="en-US" sz="3200" dirty="0"/>
              <a:t>Energy consumption trends vary across countries, with some major economies showing </a:t>
            </a:r>
            <a:r>
              <a:rPr lang="en-US" sz="3200" b="1" dirty="0"/>
              <a:t>steady increases over the years</a:t>
            </a:r>
            <a:r>
              <a:rPr lang="en-US" sz="3200" dirty="0"/>
              <a:t>, indicating growing industrial and economic activity.</a:t>
            </a:r>
          </a:p>
          <a:p>
            <a:pPr indent="-457200"/>
            <a:r>
              <a:rPr lang="en-US" sz="3200" dirty="0"/>
              <a:t>Certain countries display </a:t>
            </a:r>
            <a:r>
              <a:rPr lang="en-US" sz="3200" b="1" dirty="0"/>
              <a:t>stable or minimal changes in consumption</a:t>
            </a:r>
            <a:r>
              <a:rPr lang="en-US" sz="3200" dirty="0"/>
              <a:t>, suggesting consistent energy demand patterns.</a:t>
            </a:r>
          </a:p>
          <a:p>
            <a:pPr indent="-457200"/>
            <a:r>
              <a:rPr lang="en-US" sz="3200" dirty="0"/>
              <a:t>Some countries may show </a:t>
            </a:r>
            <a:r>
              <a:rPr lang="en-US" sz="3200" b="1" dirty="0"/>
              <a:t>declining or unchanged energy usage</a:t>
            </a:r>
            <a:r>
              <a:rPr lang="en-US" sz="3200" dirty="0"/>
              <a:t>, potentially due to energy efficiency improvements or shifts toward sustainable practices.</a:t>
            </a:r>
            <a:endParaRPr sz="2878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-IN" sz="2500" dirty="0"/>
              <a:t>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8C18EC-A80E-5773-375B-C8082C26F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84736"/>
            <a:ext cx="3452159" cy="2857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A8B009-769F-FDFF-F28C-12E03CA26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005" y="1709546"/>
            <a:ext cx="2278577" cy="24081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6dbd3d461_1_122"/>
          <p:cNvSpPr txBox="1">
            <a:spLocks noGrp="1"/>
          </p:cNvSpPr>
          <p:nvPr>
            <p:ph type="title"/>
          </p:nvPr>
        </p:nvSpPr>
        <p:spPr>
          <a:xfrm>
            <a:off x="838200" y="113300"/>
            <a:ext cx="10515600" cy="1224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15000"/>
              </a:lnSpc>
              <a:buSzPts val="1100"/>
            </a:pPr>
            <a:r>
              <a:rPr lang="en-US" sz="2400" b="1" dirty="0"/>
              <a:t>What is the average yearly change in emissions per capita for each country?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</p:txBody>
      </p:sp>
      <p:sp>
        <p:nvSpPr>
          <p:cNvPr id="214" name="Google Shape;214;g3e6dbd3d461_1_122"/>
          <p:cNvSpPr txBox="1">
            <a:spLocks noGrp="1"/>
          </p:cNvSpPr>
          <p:nvPr>
            <p:ph type="body" idx="1"/>
          </p:nvPr>
        </p:nvSpPr>
        <p:spPr>
          <a:xfrm>
            <a:off x="838200" y="1337900"/>
            <a:ext cx="10515600" cy="483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/>
              <a:t>Query:                                                                       Output: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3526F-1C17-ADA8-B299-1A930CF0C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78" y="2011679"/>
            <a:ext cx="5220393" cy="46052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8F4F2D-9CFB-1D5B-FF0C-54C035FC2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310" y="2099906"/>
            <a:ext cx="2888230" cy="33149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6dbd3d461_1_1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445700" cy="724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700" dirty="0"/>
              <a:t>Key Insight :</a:t>
            </a:r>
            <a:endParaRPr sz="2500" dirty="0"/>
          </a:p>
        </p:txBody>
      </p:sp>
      <p:sp>
        <p:nvSpPr>
          <p:cNvPr id="223" name="Google Shape;223;g3e6dbd3d461_1_130"/>
          <p:cNvSpPr txBox="1">
            <a:spLocks noGrp="1"/>
          </p:cNvSpPr>
          <p:nvPr>
            <p:ph type="body" idx="1"/>
          </p:nvPr>
        </p:nvSpPr>
        <p:spPr>
          <a:xfrm>
            <a:off x="838200" y="1330625"/>
            <a:ext cx="10515600" cy="484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74650">
              <a:buSzPts val="2300"/>
            </a:pPr>
            <a:r>
              <a:rPr lang="en-IN" sz="2400" dirty="0"/>
              <a:t>Tracking Environmental Progress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30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2300" dirty="0">
              <a:latin typeface="Arial"/>
              <a:ea typeface="Arial"/>
              <a:cs typeface="Arial"/>
              <a:sym typeface="Arial"/>
            </a:endParaRPr>
          </a:p>
          <a:p>
            <a:pPr lvl="0" indent="-374650">
              <a:buSzPts val="2300"/>
            </a:pPr>
            <a:r>
              <a:rPr lang="en-IN" sz="2400" dirty="0"/>
              <a:t>Identifying Economic Development Stages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 dirty="0">
              <a:latin typeface="Arial"/>
              <a:ea typeface="Arial"/>
              <a:cs typeface="Arial"/>
              <a:sym typeface="Arial"/>
            </a:endParaRPr>
          </a:p>
          <a:p>
            <a:pPr lvl="0" indent="-368300">
              <a:buSzPts val="2200"/>
            </a:pPr>
            <a:r>
              <a:rPr lang="en-IN" sz="2400" dirty="0"/>
              <a:t>Performance Comparison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6dbd3d461_1_139"/>
          <p:cNvSpPr txBox="1">
            <a:spLocks noGrp="1"/>
          </p:cNvSpPr>
          <p:nvPr>
            <p:ph type="title"/>
          </p:nvPr>
        </p:nvSpPr>
        <p:spPr>
          <a:xfrm>
            <a:off x="1762788" y="565200"/>
            <a:ext cx="10515600" cy="106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. 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r>
              <a:rPr lang="en-US" sz="2200" b="1" dirty="0"/>
              <a:t>What is the average yearly change in emissions per capita for each country?</a:t>
            </a:r>
            <a:br>
              <a:rPr lang="en-US" sz="2400" dirty="0"/>
            </a:br>
            <a:br>
              <a:rPr lang="en-US" sz="2400" dirty="0"/>
            </a:br>
            <a:endParaRPr sz="2078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0" name="Google Shape;230;g3e6dbd3d461_1_139"/>
          <p:cNvSpPr txBox="1">
            <a:spLocks noGrp="1"/>
          </p:cNvSpPr>
          <p:nvPr>
            <p:ph type="body" idx="1"/>
          </p:nvPr>
        </p:nvSpPr>
        <p:spPr>
          <a:xfrm>
            <a:off x="838200" y="1099200"/>
            <a:ext cx="10515600" cy="5077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 dirty="0"/>
              <a:t>Query:                                                                     Output:  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7C19D8-54CA-5FB8-CA75-E311729B7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83" y="1953490"/>
            <a:ext cx="4444781" cy="43393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E960AE-D31E-8E9B-3410-FC7EBC250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634" y="1953490"/>
            <a:ext cx="3375953" cy="32845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6dbd3d461_1_1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953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700"/>
              <a:t>Key Insight :</a:t>
            </a:r>
            <a:endParaRPr/>
          </a:p>
        </p:txBody>
      </p:sp>
      <p:sp>
        <p:nvSpPr>
          <p:cNvPr id="239" name="Google Shape;239;g3e6dbd3d461_1_147"/>
          <p:cNvSpPr txBox="1">
            <a:spLocks noGrp="1"/>
          </p:cNvSpPr>
          <p:nvPr>
            <p:ph type="body" idx="1"/>
          </p:nvPr>
        </p:nvSpPr>
        <p:spPr>
          <a:xfrm>
            <a:off x="838200" y="1378825"/>
            <a:ext cx="10515600" cy="478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Environmental Direction: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 value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means the country is successfully reducing its carbon footprint per person.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value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shows that emissions are growing faster than the population.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lvl="0" indent="-368300">
              <a:buSzPts val="2200"/>
            </a:pPr>
            <a:r>
              <a:rPr lang="en-US" sz="2400" b="1" dirty="0"/>
              <a:t>Efficiency Milestone:</a:t>
            </a:r>
            <a:r>
              <a:rPr lang="en-US" sz="2400" dirty="0"/>
              <a:t> Countries with values near </a:t>
            </a:r>
            <a:r>
              <a:rPr lang="en-US" sz="2400" b="1" dirty="0"/>
              <a:t>zero</a:t>
            </a:r>
            <a:r>
              <a:rPr lang="en-US" sz="2400" dirty="0"/>
              <a:t> have hit a plateau, meaning their emissions have stabilized relative to their population size. 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sz="2400" b="1" dirty="0"/>
              <a:t>Industrial Progress:</a:t>
            </a:r>
            <a:r>
              <a:rPr lang="en-US" sz="2400" dirty="0"/>
              <a:t> Rapidly developing nations often show higher positive changes as they build infrastructure and increase energy consumption.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15C1B-9213-7AFB-28A8-ED36FA227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7890" y="6683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2200" b="1" dirty="0"/>
              <a:t>What is the emission-to-GDP ratio for each country by year?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20865-5799-D2E5-9323-A38314213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0848" y="857251"/>
            <a:ext cx="5157787" cy="823912"/>
          </a:xfrm>
        </p:spPr>
        <p:txBody>
          <a:bodyPr/>
          <a:lstStyle/>
          <a:p>
            <a:r>
              <a:rPr lang="en-IN" dirty="0"/>
              <a:t>Query: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27796-C6EC-4659-99B3-7D50E1C112B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263640" y="695267"/>
            <a:ext cx="5183188" cy="823912"/>
          </a:xfrm>
        </p:spPr>
        <p:txBody>
          <a:bodyPr/>
          <a:lstStyle/>
          <a:p>
            <a:r>
              <a:rPr lang="en-IN" dirty="0"/>
              <a:t>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FE3F5B-E98F-1AD4-1F88-923DA4DA0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30" y="1870077"/>
            <a:ext cx="5060118" cy="46714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AF3ACE-F9B4-0C12-01CE-643AFD9E2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890" y="2030354"/>
            <a:ext cx="4008467" cy="333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19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DEA9B-DF1B-E569-F468-2BF165664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65" y="805699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b="1" dirty="0"/>
              <a:t>What this query does: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72DA07-A10C-E607-43B8-D2A3F002450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64374" y="2058381"/>
                <a:ext cx="10515600" cy="4351338"/>
              </a:xfrm>
            </p:spPr>
            <p:txBody>
              <a:bodyPr/>
              <a:lstStyle/>
              <a:p>
                <a:r>
                  <a:rPr lang="en-IN" sz="2000" dirty="0"/>
                  <a:t>Joins emission_3 and gdp_3 using </a:t>
                </a:r>
                <a:r>
                  <a:rPr lang="en-IN" sz="2000" b="1" dirty="0"/>
                  <a:t>country</a:t>
                </a:r>
                <a:r>
                  <a:rPr lang="en-IN" sz="2000" dirty="0"/>
                  <a:t> and </a:t>
                </a:r>
                <a:r>
                  <a:rPr lang="en-IN" sz="2000" b="1" dirty="0"/>
                  <a:t>year</a:t>
                </a:r>
                <a:r>
                  <a:rPr lang="en-IN" sz="2000" dirty="0"/>
                  <a:t> </a:t>
                </a:r>
              </a:p>
              <a:p>
                <a:r>
                  <a:rPr lang="en-IN" sz="2000" dirty="0"/>
                  <a:t>Calculates </a:t>
                </a:r>
                <a:r>
                  <a:rPr lang="en-IN" sz="2000" b="1" dirty="0"/>
                  <a:t>total emissions</a:t>
                </a:r>
                <a:r>
                  <a:rPr lang="en-IN" sz="2000" dirty="0"/>
                  <a:t> for each country per year </a:t>
                </a:r>
              </a:p>
              <a:p>
                <a:r>
                  <a:rPr lang="en-IN" sz="2000" dirty="0"/>
                  <a:t>Retrieves the </a:t>
                </a:r>
                <a:r>
                  <a:rPr lang="en-IN" sz="2000" b="1" dirty="0"/>
                  <a:t>GDP value</a:t>
                </a:r>
                <a:r>
                  <a:rPr lang="en-IN" sz="2000" dirty="0"/>
                  <a:t> </a:t>
                </a:r>
              </a:p>
              <a:p>
                <a:r>
                  <a:rPr lang="en-IN" sz="2000" dirty="0"/>
                  <a:t>Computes the </a:t>
                </a:r>
                <a:r>
                  <a:rPr lang="en-IN" sz="2000" b="1" dirty="0"/>
                  <a:t>Emission-to-GDP Ratio</a:t>
                </a:r>
                <a:r>
                  <a:rPr lang="en-IN" sz="2000" dirty="0"/>
                  <a:t> using: 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000"/>
                      <m:t>Emission</m:t>
                    </m:r>
                    <m:r>
                      <m:rPr>
                        <m:nor/>
                      </m:rPr>
                      <a:rPr lang="en-IN" sz="2000"/>
                      <m:t>−</m:t>
                    </m:r>
                    <m:r>
                      <m:rPr>
                        <m:nor/>
                      </m:rPr>
                      <a:rPr lang="en-IN" sz="2000"/>
                      <m:t>to</m:t>
                    </m:r>
                    <m:r>
                      <m:rPr>
                        <m:nor/>
                      </m:rPr>
                      <a:rPr lang="en-IN" sz="2000"/>
                      <m:t>−</m:t>
                    </m:r>
                    <m:r>
                      <m:rPr>
                        <m:nor/>
                      </m:rPr>
                      <a:rPr lang="en-IN" sz="2000"/>
                      <m:t>GDP</m:t>
                    </m:r>
                    <m:r>
                      <m:rPr>
                        <m:nor/>
                      </m:rPr>
                      <a:rPr lang="en-IN" sz="2000" i="1"/>
                      <m:t> </m:t>
                    </m:r>
                    <m:r>
                      <m:rPr>
                        <m:nor/>
                      </m:rPr>
                      <a:rPr lang="en-IN" sz="2000" i="1"/>
                      <m:t>Ratio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 i="1"/>
                          <m:t>Total</m:t>
                        </m:r>
                        <m:r>
                          <m:rPr>
                            <m:nor/>
                          </m:rPr>
                          <a:rPr lang="en-IN" sz="2000" i="1"/>
                          <m:t> </m:t>
                        </m:r>
                        <m:r>
                          <m:rPr>
                            <m:nor/>
                          </m:rPr>
                          <a:rPr lang="en-IN" sz="2000" i="1"/>
                          <m:t>Emissions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 i="1"/>
                          <m:t>GDP</m:t>
                        </m:r>
                      </m:den>
                    </m:f>
                  </m:oMath>
                </a14:m>
                <a:endParaRPr lang="ar-AE" sz="2000" dirty="0"/>
              </a:p>
              <a:p>
                <a:r>
                  <a:rPr lang="en-IN" sz="2000" dirty="0"/>
                  <a:t>Orders the results by </a:t>
                </a:r>
                <a:r>
                  <a:rPr lang="en-IN" sz="2000" b="1" dirty="0"/>
                  <a:t>country and year</a:t>
                </a:r>
                <a:r>
                  <a:rPr lang="en-IN" sz="2000" dirty="0"/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72DA07-A10C-E607-43B8-D2A3F00245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4374" y="2058381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634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7201C-0A2C-7C8A-CD00-4BCF7B9DF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What is the energy consumption per capita for each country over the last decade?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C03A8-DC5F-CA31-FF92-8B0FD529A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Query: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02726-82DE-98CB-43DA-BB6BBBD71C0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FB2359-1F12-ACE7-283E-42783929F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22" y="2427315"/>
            <a:ext cx="5014395" cy="37496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4541EE-B9FB-5085-E3FF-A7C59E965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595" y="2427315"/>
            <a:ext cx="4633362" cy="32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77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343E6-F295-1293-D97C-139876208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What this query does </a:t>
            </a:r>
            <a:r>
              <a:rPr lang="en-IN" sz="2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B633A93-36EA-CD91-B071-C8A1CA266DA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199" y="1825625"/>
                <a:ext cx="10068099" cy="4351338"/>
              </a:xfrm>
            </p:spPr>
            <p:txBody>
              <a:bodyPr>
                <a:normAutofit/>
              </a:bodyPr>
              <a:lstStyle/>
              <a:p>
                <a:r>
                  <a:rPr lang="en-IN" sz="2000" dirty="0"/>
                  <a:t>Joins the consumption and population tables using </a:t>
                </a:r>
                <a:r>
                  <a:rPr lang="en-IN" sz="2000" b="1" dirty="0"/>
                  <a:t>country</a:t>
                </a:r>
                <a:r>
                  <a:rPr lang="en-IN" sz="2000" dirty="0"/>
                  <a:t> and </a:t>
                </a:r>
                <a:r>
                  <a:rPr lang="en-IN" sz="2000" b="1" dirty="0"/>
                  <a:t>year</a:t>
                </a:r>
                <a:r>
                  <a:rPr lang="en-IN" sz="2000" dirty="0"/>
                  <a:t> </a:t>
                </a:r>
              </a:p>
              <a:p>
                <a:r>
                  <a:rPr lang="en-IN" sz="2000" dirty="0"/>
                  <a:t>Calculates </a:t>
                </a:r>
                <a:r>
                  <a:rPr lang="en-IN" sz="2000" b="1" dirty="0"/>
                  <a:t>total energy consumption</a:t>
                </a:r>
                <a:r>
                  <a:rPr lang="en-IN" sz="2000" dirty="0"/>
                  <a:t> for each country per year </a:t>
                </a:r>
              </a:p>
              <a:p>
                <a:r>
                  <a:rPr lang="en-IN" sz="2000" dirty="0"/>
                  <a:t>Retrieves the </a:t>
                </a:r>
                <a:r>
                  <a:rPr lang="en-IN" sz="2000" b="1" dirty="0"/>
                  <a:t>population value</a:t>
                </a:r>
                <a:r>
                  <a:rPr lang="en-IN" sz="2000" dirty="0"/>
                  <a:t> </a:t>
                </a:r>
              </a:p>
              <a:p>
                <a:r>
                  <a:rPr lang="en-IN" sz="2000" dirty="0"/>
                  <a:t>Computes </a:t>
                </a:r>
                <a:r>
                  <a:rPr lang="en-IN" sz="2000" b="1" dirty="0"/>
                  <a:t>energy consumption per capita</a:t>
                </a:r>
                <a:r>
                  <a:rPr lang="en-IN" sz="2000" dirty="0"/>
                  <a:t> using: 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000"/>
                      <m:t>Energy</m:t>
                    </m:r>
                    <m:r>
                      <m:rPr>
                        <m:nor/>
                      </m:rPr>
                      <a:rPr lang="en-IN" sz="2000" i="1"/>
                      <m:t> </m:t>
                    </m:r>
                    <m:r>
                      <m:rPr>
                        <m:nor/>
                      </m:rPr>
                      <a:rPr lang="en-IN" sz="2000" i="1"/>
                      <m:t>Consumption</m:t>
                    </m:r>
                    <m:r>
                      <m:rPr>
                        <m:nor/>
                      </m:rPr>
                      <a:rPr lang="en-IN" sz="2000" i="1"/>
                      <m:t> </m:t>
                    </m:r>
                    <m:r>
                      <m:rPr>
                        <m:nor/>
                      </m:rPr>
                      <a:rPr lang="en-IN" sz="2000" i="1"/>
                      <m:t>Per</m:t>
                    </m:r>
                    <m:r>
                      <m:rPr>
                        <m:nor/>
                      </m:rPr>
                      <a:rPr lang="en-IN" sz="2000" i="1"/>
                      <m:t> </m:t>
                    </m:r>
                    <m:r>
                      <m:rPr>
                        <m:nor/>
                      </m:rPr>
                      <a:rPr lang="en-IN" sz="2000" i="1"/>
                      <m:t>Capita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 i="1"/>
                          <m:t>Total</m:t>
                        </m:r>
                        <m:r>
                          <m:rPr>
                            <m:nor/>
                          </m:rPr>
                          <a:rPr lang="en-IN" sz="2000" i="1"/>
                          <m:t> </m:t>
                        </m:r>
                        <m:r>
                          <m:rPr>
                            <m:nor/>
                          </m:rPr>
                          <a:rPr lang="en-IN" sz="2000" i="1"/>
                          <m:t>Energy</m:t>
                        </m:r>
                        <m:r>
                          <m:rPr>
                            <m:nor/>
                          </m:rPr>
                          <a:rPr lang="en-IN" sz="2000" i="1"/>
                          <m:t> </m:t>
                        </m:r>
                        <m:r>
                          <m:rPr>
                            <m:nor/>
                          </m:rPr>
                          <a:rPr lang="en-IN" sz="2000" i="1"/>
                          <m:t>Consumption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 i="1"/>
                          <m:t>Population</m:t>
                        </m:r>
                      </m:den>
                    </m:f>
                  </m:oMath>
                </a14:m>
                <a:endParaRPr lang="ar-AE" sz="2000" dirty="0"/>
              </a:p>
              <a:p>
                <a:r>
                  <a:rPr lang="en-IN" sz="2000" dirty="0"/>
                  <a:t>Filters data for the </a:t>
                </a:r>
                <a:r>
                  <a:rPr lang="en-IN" sz="2000" b="1" dirty="0"/>
                  <a:t>last 10 years (last decade)</a:t>
                </a:r>
                <a:r>
                  <a:rPr lang="en-IN" sz="2000" dirty="0"/>
                  <a:t> using the maximum available year </a:t>
                </a:r>
              </a:p>
              <a:p>
                <a:r>
                  <a:rPr lang="en-IN" sz="2000" dirty="0"/>
                  <a:t>Orders results by </a:t>
                </a:r>
                <a:r>
                  <a:rPr lang="en-IN" sz="2000" b="1" dirty="0"/>
                  <a:t>country and year</a:t>
                </a:r>
                <a:r>
                  <a:rPr lang="en-IN" sz="2000" dirty="0"/>
                  <a:t>.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B633A93-36EA-CD91-B071-C8A1CA266D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199" y="1825625"/>
                <a:ext cx="10068099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6317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3863-1AC6-774C-1EC2-3278EA2D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How does energy production per capita vary across countries?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CD8C8-0522-4526-B7F5-5B6C1C5FD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Query: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1ACD7-5646-8D25-A4DA-18E4CCA4312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Output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9A8461-E3C7-9D1F-D8BD-FB6E514D5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50" y="2696645"/>
            <a:ext cx="5181600" cy="3480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72EBD8-ED59-BB76-9583-CAC618E24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850" y="2583726"/>
            <a:ext cx="2872989" cy="335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22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0418-56CD-26B0-826F-C50F0E6A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Key Insight: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B6A715-886B-C012-FCF8-4F3A1BC083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59339"/>
            <a:ext cx="105156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The query helps compare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production per person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different countries and years.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Countries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production per capita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likely have strong energy sectors or smaller populations    relative to production levels.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Countries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production per capita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may have limited energy generation or large populations that reduce per-person availability.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Changes in production per capita over time can indicate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 in energy infrastructure, industrial expansion, or population changes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65989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7442F-13B4-277A-2E91-806701B0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Which countries have the highest energy consumption relative to GDP?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03425-020C-BF64-6293-44C567895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28700" lvl="2" indent="0">
              <a:buNone/>
            </a:pPr>
            <a:r>
              <a:rPr lang="en-IN" dirty="0"/>
              <a:t>Query :                                                                            Output: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CAA8EC-5E8C-C35E-8E29-5919B7F26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53" y="2716447"/>
            <a:ext cx="4549534" cy="19127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FFFB94-3E19-2850-2E9F-E95882BC0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517" y="2499274"/>
            <a:ext cx="3071126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16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613C3-1589-62FB-9379-0333652A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7240"/>
            <a:ext cx="10515600" cy="913448"/>
          </a:xfrm>
        </p:spPr>
        <p:txBody>
          <a:bodyPr>
            <a:normAutofit/>
          </a:bodyPr>
          <a:lstStyle/>
          <a:p>
            <a:r>
              <a:rPr lang="en-IN" sz="2400" b="1" dirty="0"/>
              <a:t>Key Insights: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E3373D-F9D5-AE59-9D3B-A4E0249A3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820" y="15970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Energy Efficiency Indicator:</a:t>
            </a:r>
            <a:r>
              <a:rPr lang="en-US" sz="2400" dirty="0"/>
              <a:t> A high ratio means a country is "energy inefficient". It indicates that the country must burn a lot of fuel or electricity to generate its wealth.</a:t>
            </a:r>
          </a:p>
          <a:p>
            <a:r>
              <a:rPr lang="en-US" sz="2400" b="1" dirty="0"/>
              <a:t>Economic Structure:</a:t>
            </a:r>
            <a:r>
              <a:rPr lang="en-US" sz="2400" dirty="0"/>
              <a:t> Countries with the highest ratios are often those with heavy industrial or manufacturing bases (like steel or mining) rather than service-based economies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3469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6745-1BB2-B904-97E7-9737AA6A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304" y="696594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/>
              <a:t>What is the correlation between GDP growth and energy production growth?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5A0AD-AC05-026B-5AF3-8C2655E6B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Query:                                                                   Output: 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8024D5-3E3F-03DD-B718-A1DB7BF68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96" y="2689738"/>
            <a:ext cx="7232007" cy="28196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014A4B-5C66-6CA5-2CC9-DB82173F6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574" y="2689738"/>
            <a:ext cx="3368332" cy="195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13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8DBC5-F6A5-7BC8-445F-AD23D779F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Key Insight: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5F4A7-726A-1582-DF81-B21F59B08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Strong Link:</a:t>
            </a:r>
            <a:r>
              <a:rPr lang="en-US" sz="2400" dirty="0"/>
              <a:t> If GDP and energy production both go up together, the economy depends heavily on its own energy industry.</a:t>
            </a:r>
          </a:p>
          <a:p>
            <a:r>
              <a:rPr lang="en-US" sz="2400" b="1" dirty="0"/>
              <a:t>Efficiency:</a:t>
            </a:r>
            <a:r>
              <a:rPr lang="en-US" sz="2400" dirty="0"/>
              <a:t> If GDP grows but energy production stays flat, the country is likely importing energy or using it more efficiently. </a:t>
            </a:r>
          </a:p>
          <a:p>
            <a:r>
              <a:rPr lang="en-US" sz="2400" b="1" dirty="0"/>
              <a:t>Economic Health:</a:t>
            </a:r>
            <a:r>
              <a:rPr lang="en-US" sz="2400" dirty="0"/>
              <a:t> A high correlation often identifies "industrial" nations, while low correlation identifies "service-based" nations.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51052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482B3-5C2D-A16E-D97B-DD0EB083C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What are the top 10 countries by population and how do their emissions compare?</a:t>
            </a:r>
            <a:endParaRPr lang="en-IN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9CE1C-FC64-9577-D7D4-562D73B9B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76636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/>
              <a:t>Query:                                                      Output :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sz="2400" b="1" dirty="0"/>
              <a:t>Key insights:</a:t>
            </a:r>
          </a:p>
          <a:p>
            <a:pPr marL="114300" indent="0">
              <a:buNone/>
            </a:pPr>
            <a:r>
              <a:rPr lang="en-US" sz="2000" b="1" dirty="0"/>
              <a:t>The Power of Scale:</a:t>
            </a:r>
            <a:r>
              <a:rPr lang="en-US" sz="2000" dirty="0"/>
              <a:t> The most populated countries are almost always the largest total polluters, showing that population is the primary driver of global energy demand.</a:t>
            </a:r>
            <a:endParaRPr lang="en-IN" sz="2000" dirty="0"/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FAC347-B9D2-1AA9-2543-A20C36108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33" y="2544408"/>
            <a:ext cx="3734124" cy="22785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D223EE-00DA-C504-D733-509F6EE9D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91659"/>
            <a:ext cx="2408129" cy="187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925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D946F-6A89-4B8A-F1C7-2002A4DC2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the global share (%) of emissions by country?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C882C-BB71-13F4-E1DC-877328674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lvl="1" indent="0">
              <a:buNone/>
            </a:pPr>
            <a:r>
              <a:rPr lang="en-IN" dirty="0"/>
              <a:t>Query:                                                                    Output:</a:t>
            </a:r>
          </a:p>
          <a:p>
            <a:pPr marL="571500" lvl="1" indent="0">
              <a:buNone/>
            </a:pPr>
            <a:endParaRPr lang="en-IN" dirty="0"/>
          </a:p>
          <a:p>
            <a:pPr marL="571500" lvl="1" indent="0">
              <a:buNone/>
            </a:pPr>
            <a:endParaRPr lang="en-IN" dirty="0"/>
          </a:p>
          <a:p>
            <a:pPr marL="571500" lvl="1" indent="0">
              <a:buNone/>
            </a:pPr>
            <a:endParaRPr lang="en-IN" dirty="0"/>
          </a:p>
          <a:p>
            <a:pPr marL="571500" lvl="1" indent="0">
              <a:buNone/>
            </a:pPr>
            <a:endParaRPr lang="en-IN" dirty="0"/>
          </a:p>
          <a:p>
            <a:pPr marL="571500" lvl="1" indent="0">
              <a:buNone/>
            </a:pPr>
            <a:endParaRPr lang="en-IN" dirty="0"/>
          </a:p>
          <a:p>
            <a:pPr marL="571500" lvl="1" indent="0">
              <a:buNone/>
            </a:pPr>
            <a:endParaRPr lang="en-IN" dirty="0"/>
          </a:p>
          <a:p>
            <a:pPr marL="571500" lvl="1" indent="0">
              <a:buNone/>
            </a:pPr>
            <a:r>
              <a:rPr lang="en-IN" b="1" dirty="0"/>
              <a:t>Key Insight :</a:t>
            </a:r>
          </a:p>
          <a:p>
            <a:pPr marL="571500" lvl="1" indent="0">
              <a:buNone/>
            </a:pPr>
            <a:r>
              <a:rPr lang="en-US" sz="1800" b="1" dirty="0"/>
              <a:t>Concentration of Emissions:</a:t>
            </a:r>
            <a:r>
              <a:rPr lang="en-US" sz="1800" dirty="0"/>
              <a:t> This query typically reveals that a very small number of countries (the "Top 5") often account for more than </a:t>
            </a:r>
            <a:r>
              <a:rPr lang="en-US" sz="1800" b="1" dirty="0"/>
              <a:t>50% of all global emissions</a:t>
            </a:r>
            <a:r>
              <a:rPr lang="en-US" sz="1800" dirty="0"/>
              <a:t>.</a:t>
            </a:r>
            <a:endParaRPr lang="en-IN" sz="1800" dirty="0"/>
          </a:p>
          <a:p>
            <a:pPr marL="571500" lvl="1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D7914-7D6C-394F-F63F-67DF2C9CA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071" y="2404395"/>
            <a:ext cx="4595258" cy="21871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A5016A-789B-C7C3-99EC-0F50EE89B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771" y="2594912"/>
            <a:ext cx="2156647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470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1D440-1519-6896-443D-9DE36C265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is the global average GDP, emission, and population by year?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FA30E-E7A4-E78A-E573-D60807C2D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Query:                                                            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F307C8-9DD0-2F77-A120-127A09BD7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38" y="2538010"/>
            <a:ext cx="5311600" cy="3261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5C6D7C-C38A-8442-95DC-3147E115D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348" y="2759439"/>
            <a:ext cx="3619814" cy="9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76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9E88-A3B8-F2A9-FCBF-87409BB41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523" y="74751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/>
              <a:t>Key Insights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C9974-8675-FA48-7A66-F0625373F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9698"/>
            <a:ext cx="10515600" cy="4351338"/>
          </a:xfrm>
        </p:spPr>
        <p:txBody>
          <a:bodyPr/>
          <a:lstStyle/>
          <a:p>
            <a:r>
              <a:rPr lang="en-US" sz="2000" b="1" dirty="0"/>
              <a:t>Global Progress:</a:t>
            </a:r>
            <a:r>
              <a:rPr lang="en-US" sz="2000" dirty="0"/>
              <a:t> These averages provide a "baseline" for the world. You can use them to see if a specific country is performing better or worse than the global average</a:t>
            </a:r>
          </a:p>
          <a:p>
            <a:r>
              <a:rPr lang="en-US" sz="2000" b="1" dirty="0"/>
              <a:t>The Growth Link:</a:t>
            </a:r>
            <a:r>
              <a:rPr lang="en-US" sz="2000" dirty="0"/>
              <a:t> Usually, you will see all three lines (GDP, Population, and Emissions) moving </a:t>
            </a:r>
            <a:r>
              <a:rPr lang="en-US" sz="2000" b="1" dirty="0"/>
              <a:t>upward</a:t>
            </a:r>
            <a:r>
              <a:rPr lang="en-US" sz="2000" dirty="0"/>
              <a:t> together over time. This shows how human growth and wealth are traditionally tied to pollution.</a:t>
            </a:r>
          </a:p>
          <a:p>
            <a:r>
              <a:rPr lang="en-US" sz="2000" b="1" dirty="0"/>
              <a:t>Efficiency Check:</a:t>
            </a:r>
            <a:r>
              <a:rPr lang="en-US" sz="2000" dirty="0"/>
              <a:t> If you see </a:t>
            </a:r>
            <a:r>
              <a:rPr lang="en-US" sz="2000" b="1" dirty="0"/>
              <a:t>GDP</a:t>
            </a:r>
            <a:r>
              <a:rPr lang="en-US" sz="2000" dirty="0"/>
              <a:t> going up faster than </a:t>
            </a:r>
            <a:r>
              <a:rPr lang="en-US" sz="2000" b="1" dirty="0"/>
              <a:t>Emissions</a:t>
            </a:r>
            <a:r>
              <a:rPr lang="en-US" sz="2000" dirty="0"/>
              <a:t>, it is a great sign! It means the world is finding ways to create wealth using cleaner energy.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450309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614D08-899A-17A7-0CCC-3C690B32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Key Research Domains: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6001478-EF86-C323-201D-D5EA4F1BF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General &amp; Comparative Analysis: Identifying top performers in GDP and comparing production vs. consumption.</a:t>
            </a:r>
          </a:p>
          <a:p>
            <a:r>
              <a:rPr lang="en-US" sz="2000" dirty="0"/>
              <a:t>Trend Analysis Over Time: Looking at how emissions, GDP, and population have evolved year-over-year.</a:t>
            </a:r>
          </a:p>
          <a:p>
            <a:r>
              <a:rPr lang="en-US" sz="2000" dirty="0"/>
              <a:t>Ratio &amp; Per Capita Analysis: Normalizing data (e.g., Emission-to-GDP ratio) to allow fair comparisons between small and large nations.</a:t>
            </a:r>
          </a:p>
          <a:p>
            <a:r>
              <a:rPr lang="en-US" sz="2000" dirty="0"/>
              <a:t>Global Comparisons: Determining global shares of pollution and identifying countries that have successfully reduced their carbon footprint.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578328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6dbd3d461_1_1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32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FF0000"/>
                </a:solidFill>
              </a:rPr>
              <a:t>Conclusion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253" name="Google Shape;253;g3e6dbd3d461_1_168"/>
          <p:cNvSpPr txBox="1">
            <a:spLocks noGrp="1"/>
          </p:cNvSpPr>
          <p:nvPr>
            <p:ph type="body" idx="1"/>
          </p:nvPr>
        </p:nvSpPr>
        <p:spPr>
          <a:xfrm>
            <a:off x="838200" y="1197925"/>
            <a:ext cx="10515600" cy="497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00100">
              <a:lnSpc>
                <a:spcPct val="115000"/>
              </a:lnSpc>
              <a:spcBef>
                <a:spcPts val="1200"/>
              </a:spcBef>
            </a:pPr>
            <a:r>
              <a:rPr lang="en-US" sz="2200" b="1" dirty="0"/>
              <a:t>Money isn't always dirty:</a:t>
            </a:r>
            <a:r>
              <a:rPr lang="en-US" sz="2200" dirty="0"/>
              <a:t> Your data shows that countries can grow their </a:t>
            </a:r>
            <a:r>
              <a:rPr lang="en-US" sz="2200" b="1" dirty="0"/>
              <a:t>GDP</a:t>
            </a:r>
            <a:r>
              <a:rPr lang="en-US" sz="2200" dirty="0"/>
              <a:t> (wealth) without always increasing their pollution, as long as they use energy wisely</a:t>
            </a:r>
          </a:p>
          <a:p>
            <a:pPr marL="800100">
              <a:lnSpc>
                <a:spcPct val="115000"/>
              </a:lnSpc>
              <a:spcBef>
                <a:spcPts val="1200"/>
              </a:spcBef>
            </a:pPr>
            <a:r>
              <a:rPr lang="en-US" sz="2200" b="1" dirty="0"/>
              <a:t>Efficiency is key:</a:t>
            </a:r>
            <a:r>
              <a:rPr lang="en-US" sz="2200" dirty="0"/>
              <a:t> The most "modern" countries are the ones that make the most money while using the </a:t>
            </a:r>
            <a:r>
              <a:rPr lang="en-US" sz="2200" b="1" dirty="0"/>
              <a:t>least</a:t>
            </a:r>
            <a:r>
              <a:rPr lang="en-US" sz="2200" dirty="0"/>
              <a:t> amount of energy.</a:t>
            </a:r>
          </a:p>
          <a:p>
            <a:pPr marL="800100">
              <a:lnSpc>
                <a:spcPct val="115000"/>
              </a:lnSpc>
              <a:spcBef>
                <a:spcPts val="1200"/>
              </a:spcBef>
            </a:pPr>
            <a:r>
              <a:rPr lang="en-US" sz="2200" b="1" dirty="0"/>
              <a:t>The Big 10 matter most:</a:t>
            </a:r>
            <a:r>
              <a:rPr lang="en-US" sz="2200" dirty="0"/>
              <a:t> A small group of 10 highly populated countries produces the majority of the world's emissions. Global change depends on them.</a:t>
            </a:r>
          </a:p>
          <a:p>
            <a:pPr marL="800100">
              <a:lnSpc>
                <a:spcPct val="115000"/>
              </a:lnSpc>
              <a:spcBef>
                <a:spcPts val="1200"/>
              </a:spcBef>
            </a:pPr>
            <a:r>
              <a:rPr lang="en-US" sz="2200" b="1" dirty="0"/>
              <a:t>Progress is happening:</a:t>
            </a:r>
            <a:r>
              <a:rPr lang="en-US" sz="2200" dirty="0"/>
              <a:t> Over the last 10 years, many countries have successfully lowered their </a:t>
            </a:r>
            <a:r>
              <a:rPr lang="en-US" sz="2200" b="1" dirty="0"/>
              <a:t>emissions per person</a:t>
            </a:r>
            <a:r>
              <a:rPr lang="en-US" sz="2200" dirty="0"/>
              <a:t> by switching to cleaner energy.</a:t>
            </a:r>
          </a:p>
          <a:p>
            <a:pPr marL="800100">
              <a:lnSpc>
                <a:spcPct val="115000"/>
              </a:lnSpc>
              <a:spcBef>
                <a:spcPts val="1200"/>
              </a:spcBef>
            </a:pPr>
            <a:r>
              <a:rPr lang="en-US" sz="2200" b="1" dirty="0"/>
              <a:t>People vs. Power:</a:t>
            </a:r>
            <a:r>
              <a:rPr lang="en-US" sz="2200" dirty="0"/>
              <a:t> While more people usually means more energy use, </a:t>
            </a:r>
            <a:r>
              <a:rPr lang="en-US" sz="2200" b="1" dirty="0"/>
              <a:t>technology</a:t>
            </a:r>
            <a:r>
              <a:rPr lang="en-US" sz="2200" dirty="0"/>
              <a:t> and </a:t>
            </a:r>
            <a:r>
              <a:rPr lang="en-US" sz="2200" b="1" dirty="0"/>
              <a:t>better energy types</a:t>
            </a:r>
            <a:r>
              <a:rPr lang="en-US" sz="2200" dirty="0"/>
              <a:t> are helping to break that link.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1940</Words>
  <Application>Microsoft Office PowerPoint</Application>
  <PresentationFormat>Widescreen</PresentationFormat>
  <Paragraphs>264</Paragraphs>
  <Slides>37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Calibri</vt:lpstr>
      <vt:lpstr>Arial</vt:lpstr>
      <vt:lpstr>Libre Baskerville</vt:lpstr>
      <vt:lpstr>Lato Black</vt:lpstr>
      <vt:lpstr>Cambria Math</vt:lpstr>
      <vt:lpstr>Office Theme</vt:lpstr>
      <vt:lpstr>PowerPoint Presentation</vt:lpstr>
      <vt:lpstr>PowerPoint Presentation</vt:lpstr>
      <vt:lpstr>Agenda   </vt:lpstr>
      <vt:lpstr>Objective of the Project </vt:lpstr>
      <vt:lpstr>Database Context &amp; Setup:</vt:lpstr>
      <vt:lpstr>Schema Diagram </vt:lpstr>
      <vt:lpstr>Explanation about ER DIAGRAM:</vt:lpstr>
      <vt:lpstr>               Which energy types contribute most to emissions across all countries?</vt:lpstr>
      <vt:lpstr> What are the top 5 countries by GDP in the most recent year?</vt:lpstr>
      <vt:lpstr> Compare energy production and consumption by country and year.   </vt:lpstr>
      <vt:lpstr>Key insight:</vt:lpstr>
      <vt:lpstr>  Which energy types contribute most to emissions across all countries?</vt:lpstr>
      <vt:lpstr> How have global emissions changed year over year?   </vt:lpstr>
      <vt:lpstr> What is the trend in GDP for each country over the given years? </vt:lpstr>
      <vt:lpstr>   How has population growth affected total emissions in each country?   </vt:lpstr>
      <vt:lpstr>Has energy consumption increased or decreased over the years for major economies?</vt:lpstr>
      <vt:lpstr> What is the average yearly change in emissions per capita for each country? </vt:lpstr>
      <vt:lpstr>Key Insight :</vt:lpstr>
      <vt:lpstr>.   What is the average yearly change in emissions per capita for each country?   </vt:lpstr>
      <vt:lpstr>Key Insight :</vt:lpstr>
      <vt:lpstr>What is the emission-to-GDP ratio for each country by year?  </vt:lpstr>
      <vt:lpstr>What this query does:</vt:lpstr>
      <vt:lpstr>What is the energy consumption per capita for each country over the last decade?</vt:lpstr>
      <vt:lpstr>What this query does :</vt:lpstr>
      <vt:lpstr>How does energy production per capita vary across countries?</vt:lpstr>
      <vt:lpstr>Key Insight:</vt:lpstr>
      <vt:lpstr>Which countries have the highest energy consumption relative to GDP?</vt:lpstr>
      <vt:lpstr>Key Insights:</vt:lpstr>
      <vt:lpstr>What is the correlation between GDP growth and energy production growth?</vt:lpstr>
      <vt:lpstr>Key Insight:</vt:lpstr>
      <vt:lpstr>What are the top 10 countries by population and how do their emissions compare?</vt:lpstr>
      <vt:lpstr>What is the global share (%) of emissions by country?</vt:lpstr>
      <vt:lpstr>What is the global average GDP, emission, and population by year?</vt:lpstr>
      <vt:lpstr>Key Insights :</vt:lpstr>
      <vt:lpstr>Key Research Domains: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nakka vijaya lakshmi</cp:lastModifiedBy>
  <cp:revision>7</cp:revision>
  <dcterms:created xsi:type="dcterms:W3CDTF">2021-02-16T05:19:01Z</dcterms:created>
  <dcterms:modified xsi:type="dcterms:W3CDTF">2026-06-07T04:26:55Z</dcterms:modified>
</cp:coreProperties>
</file>